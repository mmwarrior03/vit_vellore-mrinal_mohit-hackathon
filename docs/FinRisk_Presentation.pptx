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54331834-a63e-899d-025d-6b452e902844}">
          <p14:sldIdLst>
            <p14:sldId id="256"/>
            <p14:sldId id="257"/>
          </p14:sldIdLst>
        </p14:section>
        <p14:section name="System" id="{97f3719a-f605-88b3-01b3-84246d672a6f}">
          <p14:sldIdLst>
            <p14:sldId id="258"/>
            <p14:sldId id="259"/>
          </p14:sldIdLst>
        </p14:section>
        <p14:section name="Results" id="{0d80a576-e270-41c1-9534-0b00537b1cfe}">
          <p14:sldIdLst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FinRisk in one breath: unstructured events in, explainable portfolio decisions out. Emphasise explainability and bounded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in our own words: latency between a breaking event and a quantified exposure is itself a risk. FinRisk turns events into structured signals, then into portfolio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sources, ingestion, NLP worker, RiskSignal, then two decision engines. Stress that propagation is a signal feature, not a diffusion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Live Risk Feed, then expand one signal: sentiment, impact, confidence, novelty, event ID and cluster ID. No claims of predicting the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Green bars are above the 5% equal-weight line, red below. Each row in the table is an auditable event-to-weight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Deterministic shock gives the scenario-specific hit; Monte Carlo with fat tails gives the broader downside. VaR and ES are on a synthetic 300-position 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traceability and honesty about limits. Point judges to the repo and the demo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FinRisk  |  S&amp;P Global &amp; Crisil Hackathon 2026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hyperlink" Target="https://github.com/MMWARRIOR03/VIT_Vellore-Mrinal_Mohit-hackathon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1"/>
                </a:solidFill>
              </a:rPr>
              <a:t>S&amp;P GLOBAL &amp; CRISIL  |  CODE TO CONNECT HACKATHON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FinRisk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bg1"/>
                </a:solidFill>
              </a:rPr>
              <a:t>Explainable Event-Driven Market Risk Intelligence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84048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bg2"/>
                </a:solidFill>
              </a:rPr>
              <a:t>“From unstructured market events to explainable index rebalancing and stress-testing decisions.”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349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Mrinal Mohit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VIT Vellore</a:t>
            </a:r>
            <a:endParaRPr lang="en-US" sz="1600" dirty="0"/>
          </a:p>
        </p:txBody>
      </p:sp>
      <p:sp>
        <p:nvSpPr>
          <p:cNvPr id="7" name="frame-d2"/>
          <p:cNvSpPr/>
          <p:nvPr/>
        </p:nvSpPr>
        <p:spPr>
          <a:xfrm>
            <a:off x="6236208" y="1389888"/>
            <a:ext cx="5449824" cy="2854046"/>
          </a:xfrm>
          <a:prstGeom prst="roundRect">
            <a:avLst>
              <a:gd name="adj" fmla="val 320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0" descr="d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463040"/>
            <a:ext cx="5303520" cy="270774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309360" y="48463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Explainable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48463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Auditable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4846320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Bounded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event noise to portfolio decisions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Analysts face hundreds of headlines across news, filings and social feeds. They need fast, auditable signals, not just sentiment scores.</a:t>
            </a:r>
            <a:endParaRPr lang="en-US" sz="1800" dirty="0"/>
          </a:p>
        </p:txBody>
      </p:sp>
      <p:sp>
        <p:nvSpPr>
          <p:cNvPr id="4" name="step1"/>
          <p:cNvSpPr/>
          <p:nvPr/>
        </p:nvSpPr>
        <p:spPr>
          <a:xfrm>
            <a:off x="54864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sources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News (GDELT), SEC EDGAR filings, StockTwits and tweet replay: unstructured text, around the clock.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986784" y="3200400"/>
            <a:ext cx="34747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9" name="step2"/>
          <p:cNvSpPr/>
          <p:nvPr/>
        </p:nvSpPr>
        <p:spPr>
          <a:xfrm>
            <a:off x="438912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RiskSignal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Sentiment, event type, impact, confidence, provenance and explanation in one frozen schema.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827264" y="3200400"/>
            <a:ext cx="347472" cy="292608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4" name="step3"/>
          <p:cNvSpPr/>
          <p:nvPr/>
        </p:nvSpPr>
        <p:spPr>
          <a:xfrm>
            <a:off x="822960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503920" y="2423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3154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decision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36118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A tilts index weights within bounds. Module B stress-tests the book with Monte Carlo.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892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data sources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383280" y="4892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338328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event types classified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4892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8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downstream risk modules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9052560" y="4892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330+</a:t>
            </a:r>
            <a:endParaRPr lang="en-US" sz="4800" dirty="0"/>
          </a:p>
        </p:txBody>
      </p:sp>
      <p:sp>
        <p:nvSpPr>
          <p:cNvPr id="25" name="Text 23"/>
          <p:cNvSpPr txBox="1"/>
          <p:nvPr/>
        </p:nvSpPr>
        <p:spPr>
          <a:xfrm>
            <a:off x="9052560" y="57150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signal contract, two risk engines</a:t>
            </a:r>
            <a:endParaRPr lang="en-US" sz="3600" dirty="0"/>
          </a:p>
        </p:txBody>
      </p:sp>
      <p:sp>
        <p:nvSpPr>
          <p:cNvPr id="3" name="frame-arch"/>
          <p:cNvSpPr/>
          <p:nvPr/>
        </p:nvSpPr>
        <p:spPr>
          <a:xfrm>
            <a:off x="475488" y="1298448"/>
            <a:ext cx="7461504" cy="4261104"/>
          </a:xfrm>
          <a:prstGeom prst="roundRect">
            <a:avLst>
              <a:gd name="adj" fmla="val 214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7315200" cy="4114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INGEST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229600" y="1627632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SHA-256 dedup, ticker linking and event clustering across four sources.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0" y="2350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UNDERSTAND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265176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FinBERT sentiment, event classifier, XGBoost impact model with rule-based fallback.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0" y="337413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CONTRACT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0" y="3675888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frozen RiskSignal schema is the single interface for every consumer.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229600" y="439826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DECIDE AND SERVE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4700016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Rebalancer and stress tester; Redis Streams, DuckDB, FastAPI, Streamlit.</a:t>
            </a:r>
            <a:endParaRPr lang="en-US" sz="1400" dirty="0"/>
          </a:p>
        </p:txBody>
      </p:sp>
      <p:sp>
        <p:nvSpPr>
          <p:cNvPr id="13" name="diffusion-note"/>
          <p:cNvSpPr/>
          <p:nvPr/>
        </p:nvSpPr>
        <p:spPr>
          <a:xfrm>
            <a:off x="548640" y="5669280"/>
            <a:ext cx="11064240" cy="64008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777240" y="57607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Diffusion / propagation score: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estimates whether an event is spreading across sources and becoming more material (a Hawkes-lite decay feature, not a generative model).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signal explained and auditable</a:t>
            </a:r>
            <a:endParaRPr lang="en-US" sz="3600" dirty="0"/>
          </a:p>
        </p:txBody>
      </p:sp>
      <p:sp>
        <p:nvSpPr>
          <p:cNvPr id="3" name="frame-feed"/>
          <p:cNvSpPr/>
          <p:nvPr/>
        </p:nvSpPr>
        <p:spPr>
          <a:xfrm>
            <a:off x="475488" y="1371600"/>
            <a:ext cx="7095744" cy="2524557"/>
          </a:xfrm>
          <a:prstGeom prst="roundRect">
            <a:avLst>
              <a:gd name="adj" fmla="val 362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fe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44752"/>
            <a:ext cx="6949440" cy="2378253"/>
          </a:xfrm>
          <a:prstGeom prst="rect">
            <a:avLst/>
          </a:prstGeom>
        </p:spPr>
      </p:pic>
      <p:sp>
        <p:nvSpPr>
          <p:cNvPr id="5" name="frame-detail"/>
          <p:cNvSpPr/>
          <p:nvPr/>
        </p:nvSpPr>
        <p:spPr>
          <a:xfrm>
            <a:off x="475488" y="4115613"/>
            <a:ext cx="7095744" cy="1347013"/>
          </a:xfrm>
          <a:prstGeom prst="roundRect">
            <a:avLst>
              <a:gd name="adj" fmla="val 678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1" descr="detai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88765"/>
            <a:ext cx="6949440" cy="1200709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7955280" y="128016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+0.318</a:t>
            </a:r>
            <a:endParaRPr lang="en-US" sz="6000" dirty="0"/>
          </a:p>
        </p:txBody>
      </p:sp>
      <p:sp>
        <p:nvSpPr>
          <p:cNvPr id="8" name="Text 4"/>
          <p:cNvSpPr txBox="1"/>
          <p:nvPr/>
        </p:nvSpPr>
        <p:spPr>
          <a:xfrm>
            <a:off x="795528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Spearman ρ of the impact model, trained on abnormal returns (stock minus SPY). Rule-based baseline: −0.067.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955280" y="3520440"/>
            <a:ext cx="182880" cy="1828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321040" y="34747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FinBERT gives financial-domain sentiment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7955280" y="4251960"/>
            <a:ext cx="182880" cy="18288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832104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10 event types: earnings, M&amp;A, regulatory, geopolitical, credit and more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55280" y="4983480"/>
            <a:ext cx="182880" cy="182880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8321040" y="49377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Novelty and propagation prioritise emerging, multi-source events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55280" y="5715000"/>
            <a:ext cx="182880" cy="18288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321040" y="56692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Immutable RiskSignal keeps source, cluster ID and explanation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A: controlled index rebalancing</a:t>
            </a:r>
            <a:endParaRPr lang="en-US" sz="3600" dirty="0"/>
          </a:p>
        </p:txBody>
      </p:sp>
      <p:sp>
        <p:nvSpPr>
          <p:cNvPr id="3" name="frame-wts"/>
          <p:cNvSpPr/>
          <p:nvPr/>
        </p:nvSpPr>
        <p:spPr>
          <a:xfrm>
            <a:off x="475488" y="1280160"/>
            <a:ext cx="6547104" cy="2144776"/>
          </a:xfrm>
          <a:prstGeom prst="roundRect">
            <a:avLst>
              <a:gd name="adj" fmla="val 4263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w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53312"/>
            <a:ext cx="6400800" cy="1998472"/>
          </a:xfrm>
          <a:prstGeom prst="rect">
            <a:avLst/>
          </a:prstGeom>
        </p:spPr>
      </p:pic>
      <p:sp>
        <p:nvSpPr>
          <p:cNvPr id="5" name="frame-reb"/>
          <p:cNvSpPr/>
          <p:nvPr/>
        </p:nvSpPr>
        <p:spPr>
          <a:xfrm>
            <a:off x="475488" y="3552952"/>
            <a:ext cx="6547104" cy="2578608"/>
          </a:xfrm>
          <a:prstGeom prst="roundRect">
            <a:avLst>
              <a:gd name="adj" fmla="val 3546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1" descr="re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626104"/>
            <a:ext cx="6400800" cy="2432304"/>
          </a:xfrm>
          <a:prstGeom prst="rect">
            <a:avLst/>
          </a:prstGeom>
        </p:spPr>
      </p:pic>
      <p:sp>
        <p:nvSpPr>
          <p:cNvPr id="7" name="pt0"/>
          <p:cNvSpPr/>
          <p:nvPr/>
        </p:nvSpPr>
        <p:spPr>
          <a:xfrm>
            <a:off x="7406640" y="1371600"/>
            <a:ext cx="4206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7680960" y="1536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Signal to weight tilt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680960" y="1901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High-materiality signals become bounded weight adjustments, never a full reallocation.</a:t>
            </a:r>
            <a:endParaRPr lang="en-US" sz="1400" dirty="0"/>
          </a:p>
        </p:txBody>
      </p:sp>
      <p:sp>
        <p:nvSpPr>
          <p:cNvPr id="10" name="pt1"/>
          <p:cNvSpPr/>
          <p:nvPr/>
        </p:nvSpPr>
        <p:spPr>
          <a:xfrm>
            <a:off x="7406640" y="2834640"/>
            <a:ext cx="4206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7680960" y="29992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</a:rPr>
              <a:t>Reviewable log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7680960" y="336499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Every rebalance records its trigger signal and its top weight changes.</a:t>
            </a:r>
            <a:endParaRPr lang="en-US" sz="1400" dirty="0"/>
          </a:p>
        </p:txBody>
      </p:sp>
      <p:sp>
        <p:nvSpPr>
          <p:cNvPr id="13" name="pt2"/>
          <p:cNvSpPr/>
          <p:nvPr/>
        </p:nvSpPr>
        <p:spPr>
          <a:xfrm>
            <a:off x="7406640" y="4297680"/>
            <a:ext cx="4206240" cy="1325880"/>
          </a:xfrm>
          <a:prstGeom prst="roundRect">
            <a:avLst>
              <a:gd name="adj" fmla="val 6897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680960" y="4462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Controlled by design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7680960" y="48280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An equal-weight base stays as the reference. A demo of controlled reaction, not autonomous trading.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406640" y="5897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Synthetic 20-stock index. Not investment advice.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B: stress testing with tail risk</a:t>
            </a:r>
            <a:endParaRPr lang="en-US" sz="3600" dirty="0"/>
          </a:p>
        </p:txBody>
      </p:sp>
      <p:sp>
        <p:nvSpPr>
          <p:cNvPr id="3" name="kpi0"/>
          <p:cNvSpPr/>
          <p:nvPr/>
        </p:nvSpPr>
        <p:spPr>
          <a:xfrm>
            <a:off x="548640" y="1280160"/>
            <a:ext cx="263347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−$1.55M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Deterministic ΔNAV (−2.60%), Credit event, impact 8.0</a:t>
            </a:r>
            <a:endParaRPr lang="en-US" sz="1200" dirty="0"/>
          </a:p>
        </p:txBody>
      </p:sp>
      <p:sp>
        <p:nvSpPr>
          <p:cNvPr id="6" name="kpi1"/>
          <p:cNvSpPr/>
          <p:nvPr/>
        </p:nvSpPr>
        <p:spPr>
          <a:xfrm>
            <a:off x="3355848" y="1280160"/>
            <a:ext cx="263347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38728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$3.00M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538728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Monte Carlo VaR 95%</a:t>
            </a:r>
            <a:endParaRPr lang="en-US" sz="1200" dirty="0"/>
          </a:p>
        </p:txBody>
      </p:sp>
      <p:sp>
        <p:nvSpPr>
          <p:cNvPr id="9" name="kpi2"/>
          <p:cNvSpPr/>
          <p:nvPr/>
        </p:nvSpPr>
        <p:spPr>
          <a:xfrm>
            <a:off x="6163056" y="1280160"/>
            <a:ext cx="263347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45936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$3.60M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345936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Expected Shortfall 95%</a:t>
            </a:r>
            <a:endParaRPr lang="en-US" sz="1200" dirty="0"/>
          </a:p>
        </p:txBody>
      </p:sp>
      <p:sp>
        <p:nvSpPr>
          <p:cNvPr id="12" name="kpi3"/>
          <p:cNvSpPr/>
          <p:nvPr/>
        </p:nvSpPr>
        <p:spPr>
          <a:xfrm>
            <a:off x="8970264" y="1280160"/>
            <a:ext cx="2633472" cy="1188720"/>
          </a:xfrm>
          <a:prstGeom prst="roundRect">
            <a:avLst>
              <a:gd name="adj" fmla="val 7692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53144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9153144" y="19202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Student-t (df=5) paths, Cholesky-correlated</a:t>
            </a:r>
            <a:endParaRPr lang="en-US" sz="1200" dirty="0"/>
          </a:p>
        </p:txBody>
      </p:sp>
      <p:sp>
        <p:nvSpPr>
          <p:cNvPr id="15" name="frame-wf"/>
          <p:cNvSpPr/>
          <p:nvPr/>
        </p:nvSpPr>
        <p:spPr>
          <a:xfrm>
            <a:off x="548640" y="2697480"/>
            <a:ext cx="5486400" cy="2136973"/>
          </a:xfrm>
          <a:prstGeom prst="roundRect">
            <a:avLst>
              <a:gd name="adj" fmla="val 4279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0" descr="w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2770632"/>
            <a:ext cx="5340096" cy="199066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21792" y="5035621"/>
            <a:ext cx="53400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Bonds use duration-convexity, loans use PD x LGD x EAD, swaps use DV01.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 reverse stress test finds the minimum impact that breaches a loss limit.</a:t>
            </a:r>
            <a:endParaRPr lang="en-US" sz="1400" dirty="0"/>
          </a:p>
        </p:txBody>
      </p:sp>
      <p:sp>
        <p:nvSpPr>
          <p:cNvPr id="18" name="frame-mc"/>
          <p:cNvSpPr/>
          <p:nvPr/>
        </p:nvSpPr>
        <p:spPr>
          <a:xfrm>
            <a:off x="6327648" y="2697480"/>
            <a:ext cx="5285232" cy="2884211"/>
          </a:xfrm>
          <a:prstGeom prst="roundRect">
            <a:avLst>
              <a:gd name="adj" fmla="val 3170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1" descr="m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70632"/>
            <a:ext cx="5138928" cy="2737907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400800" y="5806440"/>
            <a:ext cx="5138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bg2"/>
                </a:solidFill>
              </a:rPr>
              <a:t>Histogram is reconstructed from VaR/ES summary statistics, not raw paths.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Impact, limits and next steps</a:t>
            </a:r>
            <a:endParaRPr lang="en-US" sz="3600" dirty="0"/>
          </a:p>
        </p:txBody>
      </p:sp>
      <p:sp>
        <p:nvSpPr>
          <p:cNvPr id="3" name="col0"/>
          <p:cNvSpPr/>
          <p:nvPr/>
        </p:nvSpPr>
        <p:spPr>
          <a:xfrm>
            <a:off x="548640" y="1280160"/>
            <a:ext cx="3566160" cy="242316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Event noise becomes explainable, reviewable action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Every portfolio response traces back to its originating signal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Runs offline in replay mode with a one-command Docker demo</a:t>
            </a:r>
            <a:endParaRPr lang="en-US" sz="1400" dirty="0"/>
          </a:p>
        </p:txBody>
      </p:sp>
      <p:sp>
        <p:nvSpPr>
          <p:cNvPr id="6" name="col1"/>
          <p:cNvSpPr/>
          <p:nvPr/>
        </p:nvSpPr>
        <p:spPr>
          <a:xfrm>
            <a:off x="4297680" y="1280160"/>
            <a:ext cx="3566160" cy="242316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920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Synthetic portfolio and signals; not investment advice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Impact model trained on synthetic prices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Loss histogram reconstructed from VaR/ES</a:t>
            </a:r>
            <a:endParaRPr lang="en-US" sz="1400" dirty="0"/>
          </a:p>
        </p:txBody>
      </p:sp>
      <p:sp>
        <p:nvSpPr>
          <p:cNvPr id="9" name="col2"/>
          <p:cNvSpPr/>
          <p:nvPr/>
        </p:nvSpPr>
        <p:spPr>
          <a:xfrm>
            <a:off x="8046720" y="1280160"/>
            <a:ext cx="3566160" cy="2423160"/>
          </a:xfrm>
          <a:prstGeom prst="roundRect">
            <a:avLst>
              <a:gd name="adj" fmla="val 3774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4447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1920240"/>
            <a:ext cx="3063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Real-data evaluation and better calibration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Stronger monitoring and drift checks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Broader scenario coverage</a:t>
            </a:r>
            <a:endParaRPr lang="en-US" sz="1400" dirty="0"/>
          </a:p>
        </p:txBody>
      </p:sp>
      <p:sp>
        <p:nvSpPr>
          <p:cNvPr id="12" name="thumbframe0"/>
          <p:cNvSpPr/>
          <p:nvPr/>
        </p:nvSpPr>
        <p:spPr>
          <a:xfrm>
            <a:off x="548640" y="38862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0" descr="Live Risk Feed">    </p:cNvPr>
          <p:cNvPicPr>
            <a:picLocks noChangeAspect="1"/>
          </p:cNvPicPr>
          <p:nvPr/>
        </p:nvPicPr>
        <p:blipFill>
          <a:blip r:embed="rId1"/>
          <a:srcRect l="0" r="0" t="3129" b="3129"/>
          <a:stretch/>
        </p:blipFill>
        <p:spPr>
          <a:xfrm>
            <a:off x="621792" y="3959352"/>
            <a:ext cx="3419856" cy="163677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621792" y="57607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Live Risk Feed</a:t>
            </a:r>
            <a:endParaRPr lang="en-US" sz="1200" dirty="0"/>
          </a:p>
        </p:txBody>
      </p:sp>
      <p:sp>
        <p:nvSpPr>
          <p:cNvPr id="15" name="thumbframe1"/>
          <p:cNvSpPr/>
          <p:nvPr/>
        </p:nvSpPr>
        <p:spPr>
          <a:xfrm>
            <a:off x="4297680" y="38862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6" name="Image 1" descr="Module A: Index Rebalancer">    </p:cNvPr>
          <p:cNvPicPr>
            <a:picLocks noChangeAspect="1"/>
          </p:cNvPicPr>
          <p:nvPr/>
        </p:nvPicPr>
        <p:blipFill>
          <a:blip r:embed="rId2"/>
          <a:srcRect l="0" r="0" t="3332" b="3332"/>
          <a:stretch/>
        </p:blipFill>
        <p:spPr>
          <a:xfrm>
            <a:off x="4370832" y="3959352"/>
            <a:ext cx="3419856" cy="163677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4370832" y="57607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Module A: Index Rebalancer</a:t>
            </a:r>
            <a:endParaRPr lang="en-US" sz="1200" dirty="0"/>
          </a:p>
        </p:txBody>
      </p:sp>
      <p:sp>
        <p:nvSpPr>
          <p:cNvPr id="18" name="thumbframe2"/>
          <p:cNvSpPr/>
          <p:nvPr/>
        </p:nvSpPr>
        <p:spPr>
          <a:xfrm>
            <a:off x="8046720" y="3886200"/>
            <a:ext cx="3566160" cy="1783080"/>
          </a:xfrm>
          <a:prstGeom prst="roundRect">
            <a:avLst>
              <a:gd name="adj" fmla="val 5128"/>
            </a:avLst>
          </a:prstGeom>
          <a:solidFill>
            <a:schemeClr val="tx2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pic>
        <p:nvPicPr>
          <p:cNvPr id="19" name="Image 2" descr="Module B: Stress Tester">    </p:cNvPr>
          <p:cNvPicPr>
            <a:picLocks noChangeAspect="1"/>
          </p:cNvPicPr>
          <p:nvPr/>
        </p:nvPicPr>
        <p:blipFill>
          <a:blip r:embed="rId3"/>
          <a:srcRect l="0" r="0" t="3129" b="3129"/>
          <a:stretch/>
        </p:blipFill>
        <p:spPr>
          <a:xfrm>
            <a:off x="8119872" y="3959352"/>
            <a:ext cx="3419856" cy="163677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119872" y="576072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Module B: Stress Tester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05332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GitHub: </a:t>
            </a:r>
            <a:pPr indent="0" marL="0">
              <a:buNone/>
            </a:pPr>
            <a:r>
              <a:rPr lang="en-US" sz="1400" u="sng" dirty="0">
                <a:solidFill>
                  <a:schemeClr val="bg1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github.com/MMWARRIOR03/VIT_Vellore-Mrinal_Mohit-hackathon</a:t>
            </a:r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     Demo video: 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[add unlisted YouTube link]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Risk Midnight">
  <a:themeElements>
    <a:clrScheme name="FinRisk Midnight">
      <a:dk1>
        <a:srgbClr val="0B1426"/>
      </a:dk1>
      <a:lt1>
        <a:srgbClr val="FFFFFF"/>
      </a:lt1>
      <a:dk2>
        <a:srgbClr val="15233F"/>
      </a:dk2>
      <a:lt2>
        <a:srgbClr val="A9BBD8"/>
      </a:lt2>
      <a:accent1>
        <a:srgbClr val="25D9FF"/>
      </a:accent1>
      <a:accent2>
        <a:srgbClr val="4BE28C"/>
      </a:accent2>
      <a:accent3>
        <a:srgbClr val="FF5F6D"/>
      </a:accent3>
      <a:accent4>
        <a:srgbClr val="9D8CFF"/>
      </a:accent4>
      <a:accent5>
        <a:srgbClr val="FFC857"/>
      </a:accent5>
      <a:accent6>
        <a:srgbClr val="6F82A8"/>
      </a:accent6>
      <a:hlink>
        <a:srgbClr val="25D9FF"/>
      </a:hlink>
      <a:folHlink>
        <a:srgbClr val="9D8CFF"/>
      </a:folHlink>
    </a:clrScheme>
    <a:fontScheme name="FinRisk Midnigh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FinRisk: Explainable Event-Driven Market Risk Intelligence</dc:title>
  <dc:subject>PptxGenJS Presentation</dc:subject>
  <dc:creator>Mrinal Mohit</dc:creator>
  <cp:lastModifiedBy>Mrinal Mohit</cp:lastModifiedBy>
  <cp:revision>1</cp:revision>
  <dcterms:created xsi:type="dcterms:W3CDTF">2026-10-18T14:25:50Z</dcterms:created>
  <dcterms:modified xsi:type="dcterms:W3CDTF">2026-10-18T14:25:50Z</dcterms:modified>
</cp:coreProperties>
</file>